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5" Type="http://schemas.openxmlformats.org/officeDocument/2006/relationships/slide" Target="slides/slide44.xml" /><Relationship Id="rId46" Type="http://schemas.openxmlformats.org/officeDocument/2006/relationships/slide" Target="slides/slide45.xml" /><Relationship Id="rId47" Type="http://schemas.openxmlformats.org/officeDocument/2006/relationships/slide" Target="slides/slide46.xml" /><Relationship Id="rId48" Type="http://schemas.openxmlformats.org/officeDocument/2006/relationships/slide" Target="slides/slide47.xml" /><Relationship Id="rId49" Type="http://schemas.openxmlformats.org/officeDocument/2006/relationships/slide" Target="slides/slide48.xml" /><Relationship Id="rId50" Type="http://schemas.openxmlformats.org/officeDocument/2006/relationships/slide" Target="slides/slide49.xml" /><Relationship Id="rId51" Type="http://schemas.openxmlformats.org/officeDocument/2006/relationships/slide" Target="slides/slide50.xml" /><Relationship Id="rId52" Type="http://schemas.openxmlformats.org/officeDocument/2006/relationships/slide" Target="slides/slide51.xml" /><Relationship Id="rId54" Type="http://schemas.openxmlformats.org/officeDocument/2006/relationships/viewProps" Target="viewProps.xml" /><Relationship Id="rId5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56" Type="http://schemas.openxmlformats.org/officeDocument/2006/relationships/tableStyles" Target="tableStyles.xml" /><Relationship Id="rId5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3.png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.png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.png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7.png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8.png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3" Type="http://schemas.openxmlformats.org/officeDocument/2006/relationships/image" Target="../media/image10.png" /><Relationship Id="rId2" Type="http://schemas.openxmlformats.org/officeDocument/2006/relationships/image" Target="../media/image9.png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1.png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2.png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3.png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4.png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5.png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6.png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7.png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8.png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9.png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0.png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1.png" 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2.png" /></Relationships>
</file>

<file path=ppt/slides/_rels/slide4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miRNA pressure on cancer-hallmark programs in TCGA-BRCA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…and what changes from healthy breast to tumor — work in progress</a:t>
            </a:r>
            <a:br/>
            <a:br/>
            <a:r>
              <a:rPr/>
              <a:t>Stav Zok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2026-06-24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A · Framing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Three questions, one quantity — </a:t>
            </a:r>
            <a:r>
              <a:rPr b="1"/>
              <a:t>miRNA “pressure”</a:t>
            </a:r>
            <a:r>
              <a:rPr/>
              <a:t> on the 50 MSigDB hallmark programs:</a:t>
            </a:r>
          </a:p>
          <a:p>
            <a:pPr lvl="0" indent="-342900" marL="342900">
              <a:buAutoNum type="arabicPeriod"/>
            </a:pPr>
            <a:r>
              <a:rPr/>
              <a:t>Which hallmark programs are most </a:t>
            </a:r>
            <a:r>
              <a:rPr b="1"/>
              <a:t>targeted</a:t>
            </a:r>
            <a:r>
              <a:rPr/>
              <a:t> by high-evidence miRNAs?</a:t>
            </a:r>
          </a:p>
          <a:p>
            <a:pPr lvl="0" indent="-342900" marL="342900">
              <a:buAutoNum type="arabicPeriod"/>
            </a:pPr>
            <a:r>
              <a:rPr/>
              <a:t>Does miRNA pressure </a:t>
            </a:r>
            <a:r>
              <a:rPr b="1"/>
              <a:t>anti-correlate</a:t>
            </a:r>
            <a:r>
              <a:rPr/>
              <a:t> with hallmark target-gene expression — and is it </a:t>
            </a:r>
            <a:r>
              <a:rPr b="1"/>
              <a:t>gated by AGO/RISC</a:t>
            </a:r>
            <a:r>
              <a:rPr/>
              <a:t>?</a:t>
            </a:r>
          </a:p>
          <a:p>
            <a:pPr lvl="0" indent="-342900" marL="342900">
              <a:buAutoNum type="arabicPeriod"/>
            </a:pPr>
            <a:r>
              <a:rPr/>
              <a:t>How does it vary by </a:t>
            </a:r>
            <a:r>
              <a:rPr b="1"/>
              <a:t>PAM50 / immune / stage</a:t>
            </a:r>
            <a:r>
              <a:rPr/>
              <a:t> — and </a:t>
            </a:r>
            <a:r>
              <a:rPr b="1"/>
              <a:t>what does the tumor acquire vs healthy breast</a:t>
            </a:r>
            <a:r>
              <a:rPr/>
              <a:t>?</a:t>
            </a:r>
          </a:p>
          <a:p>
            <a:pPr lvl="0" indent="0" marL="0">
              <a:buNone/>
            </a:pPr>
            <a:r>
              <a:rPr i="1"/>
              <a:t>Cohort: TCGA-BRCA primary tumors (n ≈ 1,077). Edges: miRTarBase. Programs: MSigDB Hallmark.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objects</a:t>
            </a:r>
          </a:p>
        </p:txBody>
      </p:sp>
      <p:pic>
        <p:nvPicPr>
          <p:cNvPr descr="figures/F2_entity_flow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955800"/>
            <a:ext cx="8229600" cy="1879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hallmark sets</a:t>
            </a:r>
            <a:r>
              <a:rPr/>
              <a:t> (50, ~4,384-gene union) · </a:t>
            </a:r>
            <a:r>
              <a:rPr b="1"/>
              <a:t>miRNA arms</a:t>
            </a:r>
            <a:r>
              <a:rPr/>
              <a:t> (~515 ranked; 721 in the landscape) · </a:t>
            </a:r>
            <a:r>
              <a:rPr b="1"/>
              <a:t>edges</a:t>
            </a:r>
            <a:r>
              <a:rPr/>
              <a:t> (miRNA→target, high-evidence flag) · </a:t>
            </a:r>
            <a:r>
              <a:rPr b="1"/>
              <a:t>AGO/RISC</a:t>
            </a:r>
            <a:r>
              <a:rPr/>
              <a:t> (rate-limiting capacity) · </a:t>
            </a:r>
            <a:r>
              <a:rPr b="1"/>
              <a:t>PAM50 / immune / stage</a:t>
            </a:r>
            <a:r>
              <a:rPr/>
              <a:t> strata.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data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modality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role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miRTarBase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curated miRNA→target edges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the regulatory map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MSigDB Hallmark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50 gene sets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the program universe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TCGA-BRCA miRNA-seq / RNA-seq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log2(RPM+1) / log2(TPM+1)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pressure &amp; readout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ASCAT3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copy number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dosage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GTEx-healthy + TCGA-NAT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cross-state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the landscape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CPTAC-2 prospective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protein (TMT)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independent validation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Buffa 2011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independent miRNA+mRNA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replication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B · Method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Step 1 — the edge map</a:t>
            </a:r>
          </a:p>
        </p:txBody>
      </p:sp>
      <p:pic>
        <p:nvPicPr>
          <p:cNvPr descr="figures/F4_edges_funnel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346200" y="1193800"/>
            <a:ext cx="6438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Evidence tiers:</a:t>
            </a:r>
            <a:r>
              <a:rPr/>
              <a:t> reporter / protein </a:t>
            </a:r>
            <a:r>
              <a:rPr b="1"/>
              <a:t>&gt;</a:t>
            </a:r>
            <a:r>
              <a:rPr/>
              <a:t> RNA / perturbation </a:t>
            </a:r>
            <a:r>
              <a:rPr b="1"/>
              <a:t>&gt;</a:t>
            </a:r>
            <a:r>
              <a:rPr/>
              <a:t> binding.</a:t>
            </a:r>
          </a:p>
          <a:p>
            <a:pPr lvl="0"/>
            <a:r>
              <a:rPr b="1"/>
              <a:t>High-evidence</a:t>
            </a:r>
            <a:r>
              <a:rPr/>
              <a:t> = ≥1 functional MTI </a:t>
            </a:r>
            <a:r>
              <a:rPr b="1"/>
              <a:t>and</a:t>
            </a:r>
            <a:r>
              <a:rPr/>
              <a:t> reporter-or-protein validation.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Step 2 — pressure (key formula #1)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nor/>
                          <m:sty m:val="p"/>
                        </m:rPr>
                        <m:t>pressure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g</m:t>
                      </m:r>
                      <m:r>
                        <m:rPr>
                          <m:sty m:val="p"/>
                        </m:rPr>
                        <m:t>,</m:t>
                      </m:r>
                      <m:r>
                        <m:t>s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=</m:t>
                      </m:r>
                      <m:nary>
                        <m:naryPr>
                          <m:chr m:val="∑"/>
                          <m:limLoc m:val="undOvr"/>
                          <m:subHide m:val="off"/>
                          <m:supHide m:val="on"/>
                        </m:naryPr>
                        <m:sub>
                          <m:r>
                            <m:t>m</m:t>
                          </m:r>
                          <m:r>
                            <m:rPr>
                              <m:sty m:val="p"/>
                            </m:rPr>
                            <m:t>∈</m:t>
                          </m:r>
                          <m:r>
                            <m:t>R</m:t>
                          </m:r>
                          <m:r>
                            <m:rPr>
                              <m:sty m:val="p"/>
                            </m:rPr>
                            <m:t>(</m:t>
                          </m:r>
                          <m:r>
                            <m:t>g</m:t>
                          </m:r>
                          <m:r>
                            <m:rPr>
                              <m:sty m:val="p"/>
                            </m:rPr>
                            <m:t>)</m:t>
                          </m:r>
                        </m:sub>
                        <m:sup>
                          <m:r>
                            <m:t>​</m:t>
                          </m:r>
                        </m:sup>
                        <m:e>
                          <m:limLow>
                            <m:e>
                              <m:limLow>
                                <m:e>
                                  <m:r>
                                    <m:rPr>
                                      <m:sty m:val="p"/>
                                    </m:rPr>
                                    <m:t>s</m:t>
                                  </m:r>
                                  <m:r>
                                    <m:rPr>
                                      <m:sty m:val="p"/>
                                    </m:rPr>
                                    <m:t>m</m:t>
                                  </m:r>
                                  <m:r>
                                    <m:rPr>
                                      <m:sty m:val="p"/>
                                    </m:rPr>
                                    <m:t>(</m:t>
                                  </m:r>
                                  <m:r>
                                    <m:t>m</m:t>
                                  </m:r>
                                  <m:r>
                                    <m:rPr>
                                      <m:sty m:val="p"/>
                                    </m:rPr>
                                    <m:t>,</m:t>
                                  </m:r>
                                  <m:r>
                                    <m:t>s</m:t>
                                  </m:r>
                                  <m:r>
                                    <m:rPr>
                                      <m:sty m:val="p"/>
                                    </m:rPr>
                                    <m:t>)</m:t>
                                  </m:r>
                                  <m:r>
                                    <m:t> </m:t>
                                  </m:r>
                                  <m:r>
                                    <m:t>z</m:t>
                                  </m:r>
                                  <m:r>
                                    <m:rPr>
                                      <m:sty m:val="p"/>
                                    </m:rPr>
                                    <m:t>(</m:t>
                                  </m:r>
                                  <m:r>
                                    <m:t>m</m:t>
                                  </m:r>
                                  <m:r>
                                    <m:rPr>
                                      <m:sty m:val="p"/>
                                    </m:rPr>
                                    <m:t>,</m:t>
                                  </m:r>
                                  <m:r>
                                    <m:t>s</m:t>
                                  </m:r>
                                  <m:r>
                                    <m:rPr>
                                      <m:sty m:val="p"/>
                                    </m:rPr>
                                    <m:t>)</m:t>
                                  </m:r>
                                  <m:r>
                                    <m:t> </m:t>
                                  </m:r>
                                  <m:sSub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m:t>log</m:t>
                                      </m:r>
                                    </m:e>
                                    <m:sub>
                                      <m:r>
                                        <m:t>2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m:t>(</m:t>
                                  </m:r>
                                  <m:r>
                                    <m:rPr>
                                      <m:sty m:val="p"/>
                                    </m:rPr>
                                    <m:t>R</m:t>
                                  </m:r>
                                  <m:r>
                                    <m:rPr>
                                      <m:sty m:val="p"/>
                                    </m:rPr>
                                    <m:t>P</m:t>
                                  </m:r>
                                  <m:r>
                                    <m:rPr>
                                      <m:sty m:val="p"/>
                                    </m:rPr>
                                    <m:t>M</m:t>
                                  </m:r>
                                  <m:r>
                                    <m:rPr>
                                      <m:sty m:val="p"/>
                                    </m:rPr>
                                    <m:t>+</m:t>
                                  </m:r>
                                  <m:r>
                                    <m:t>1</m:t>
                                  </m:r>
                                  <m:r>
                                    <m:rPr>
                                      <m:sty m:val="p"/>
                                    </m:rPr>
                                    <m:t>)</m:t>
                                  </m:r>
                                </m:e>
                                <m:lim>
                                  <m:r>
                                    <m:rPr>
                                      <m:sty m:val="p"/>
                                    </m:rPr>
                                    <m:t>⏟</m:t>
                                  </m:r>
                                </m:lim>
                              </m:limLow>
                            </m:e>
                            <m:lim>
                              <m:r>
                                <m:rPr>
                                  <m:nor/>
                                  <m:sty m:val="p"/>
                                </m:rPr>
                                <m:t>expression</m:t>
                              </m:r>
                            </m:lim>
                          </m:limLow>
                        </m:e>
                      </m:nary>
                      <m:r>
                        <m:t> </m:t>
                      </m:r>
                      <m:r>
                        <m:rPr>
                          <m:sty m:val="p"/>
                        </m:rPr>
                        <m:t>⋅</m:t>
                      </m:r>
                      <m:r>
                        <m:t> </m:t>
                      </m:r>
                      <m:limLow>
                        <m:e>
                          <m:limLow>
                            <m:e>
                              <m:f>
                                <m:fPr>
                                  <m:type m:val="bar"/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m:t>log</m:t>
                                  </m:r>
                                  <m:r>
                                    <m:rPr>
                                      <m:sty m:val="p"/>
                                    </m:rPr>
                                    <m:t>(</m:t>
                                  </m:r>
                                  <m:r>
                                    <m:t>1</m:t>
                                  </m:r>
                                  <m:r>
                                    <m:rPr>
                                      <m:sty m:val="p"/>
                                    </m:rPr>
                                    <m:t>+</m:t>
                                  </m:r>
                                  <m:sSub>
                                    <m:e>
                                      <m:r>
                                        <m:rPr>
                                          <m:nor/>
                                          <m:sty m:val="p"/>
                                        </m:rPr>
                                        <m:t>evidence</m:t>
                                      </m:r>
                                    </m:e>
                                    <m:sub>
                                      <m:r>
                                        <m:rPr>
                                          <m:nor/>
                                          <m:sty m:val="p"/>
                                        </m:rPr>
                                        <m:t>eff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m:t>)</m:t>
                                  </m:r>
                                </m:num>
                                <m:den>
                                  <m:r>
                                    <m:rPr>
                                      <m:nor/>
                                      <m:sty m:val="p"/>
                                    </m:rPr>
                                    <m:t>evidence_mass</m:t>
                                  </m:r>
                                  <m:r>
                                    <m:rPr>
                                      <m:sty m:val="p"/>
                                    </m:rPr>
                                    <m:t>(</m:t>
                                  </m:r>
                                  <m:r>
                                    <m:t>m</m:t>
                                  </m:r>
                                  <m:r>
                                    <m:rPr>
                                      <m:sty m:val="p"/>
                                    </m:rPr>
                                    <m:t>)</m:t>
                                  </m:r>
                                </m:den>
                              </m:f>
                            </m:e>
                            <m:lim>
                              <m:r>
                                <m:rPr>
                                  <m:sty m:val="p"/>
                                </m:rPr>
                                <m:t>⏟</m:t>
                              </m:r>
                            </m:lim>
                          </m:limLow>
                        </m:e>
                        <m:lim>
                          <m:r>
                            <m:rPr>
                              <m:nor/>
                              <m:sty m:val="p"/>
                            </m:rPr>
                            <m:t>evidence</m:t>
                          </m:r>
                        </m:lim>
                      </m:limLow>
                    </m:oMath>
                  </m:oMathPara>
                </a14:m>
              </a:p>
              <a:p>
                <a:pPr lvl="0"/>
                <a:r>
                  <a:rPr b="1"/>
                  <a:t>share</a:t>
                </a:r>
                <a:r>
                  <a:rPr/>
                  <a:t> = the arm’s slice of gene </a:t>
                </a:r>
                <a14:m>
                  <m:oMath xmlns:m="http://schemas.openxmlformats.org/officeDocument/2006/math">
                    <m:r>
                      <m:t>g</m:t>
                    </m:r>
                  </m:oMath>
                </a14:m>
                <a:r>
                  <a:rPr/>
                  <a:t>’s regulator budget (softmax, sums to 1).</a:t>
                </a:r>
              </a:p>
              <a:p>
                <a:pPr lvl="0"/>
                <a:r>
                  <a:rPr b="1"/>
                  <a:t>z</a:t>
                </a:r>
                <a:r>
                  <a:rPr/>
                  <a:t> = does the arm </a:t>
                </a:r>
                <a:r>
                  <a:rPr i="1"/>
                  <a:t>move</a:t>
                </a:r>
                <a:r>
                  <a:rPr/>
                  <a:t> across tumors (the coupling signal).</a:t>
                </a:r>
              </a:p>
              <a:p>
                <a:pPr lvl="0"/>
                <a:r>
                  <a:rPr b="1"/>
                  <a:t>log2(RPM+1)</a:t>
                </a:r>
                <a:r>
                  <a:rPr/>
                  <a:t> = anchor to real abundance.</a:t>
                </a:r>
              </a:p>
              <a:p>
                <a:pPr lvl="0"/>
                <a:r>
                  <a:rPr/>
                  <a:t>spine </a:t>
                </a:r>
                <a:r>
                  <a:rPr b="1"/>
                  <a:t>M0</a:t>
                </a:r>
                <a:r>
                  <a:rPr/>
                  <a:t> = miRTarBase-only edges, S1 scorer (</a:t>
                </a:r>
                <a:r>
                  <a:rPr>
                    <a:latin typeface="Courier"/>
                  </a:rPr>
                  <a:t>softmax_z_logrpm</a:t>
                </a:r>
                <a:r>
                  <a:rPr/>
                  <a:t>).</a:t>
                </a:r>
              </a:p>
            </p:txBody>
          </p:sp>
        </mc:Choice>
      </mc:AlternateContent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6a · The master equation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nor/>
                          <m:sty m:val="p"/>
                        </m:rPr>
                        <m:t>pressure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g</m:t>
                      </m:r>
                      <m:r>
                        <m:rPr>
                          <m:sty m:val="p"/>
                        </m:rPr>
                        <m:t>,</m:t>
                      </m:r>
                      <m:r>
                        <m:t>s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=</m:t>
                      </m:r>
                      <m:nary>
                        <m:naryPr>
                          <m:chr m:val="∑"/>
                          <m:limLoc m:val="undOvr"/>
                          <m:subHide m:val="off"/>
                          <m:supHide m:val="on"/>
                        </m:naryPr>
                        <m:sub>
                          <m:r>
                            <m:t>m</m:t>
                          </m:r>
                          <m:r>
                            <m:rPr>
                              <m:sty m:val="p"/>
                            </m:rPr>
                            <m:t>∈</m:t>
                          </m:r>
                          <m:r>
                            <m:t>R</m:t>
                          </m:r>
                          <m:r>
                            <m:rPr>
                              <m:sty m:val="p"/>
                            </m:rPr>
                            <m:t>(</m:t>
                          </m:r>
                          <m:r>
                            <m:t>g</m:t>
                          </m:r>
                          <m:r>
                            <m:rPr>
                              <m:sty m:val="p"/>
                            </m:rPr>
                            <m:t>)</m:t>
                          </m:r>
                        </m:sub>
                        <m:sup>
                          <m:r>
                            <m:t>​</m:t>
                          </m:r>
                        </m:sup>
                        <m:e>
                          <m:r>
                            <m:t>c</m:t>
                          </m:r>
                        </m:e>
                      </m:nary>
                      <m:r>
                        <m:rPr>
                          <m:sty m:val="p"/>
                        </m:rPr>
                        <m:t>(</m:t>
                      </m:r>
                      <m:r>
                        <m:t>m</m:t>
                      </m:r>
                      <m:r>
                        <m:rPr>
                          <m:sty m:val="p"/>
                        </m:rPr>
                        <m:t>,</m:t>
                      </m:r>
                      <m:r>
                        <m:t>g</m:t>
                      </m:r>
                      <m:r>
                        <m:rPr>
                          <m:sty m:val="p"/>
                        </m:rPr>
                        <m:t>,</m:t>
                      </m:r>
                      <m:r>
                        <m:t>s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,</m:t>
                      </m:r>
                      <m:r>
                        <m:t>  </m:t>
                      </m:r>
                      <m:r>
                        <m:t>c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rPr>
                          <m:nor/>
                          <m:sty m:val="p"/>
                        </m:rPr>
                        <m:t>expr_mult</m:t>
                      </m:r>
                      <m:r>
                        <m:rPr>
                          <m:sty m:val="p"/>
                        </m:rPr>
                        <m:t>⋅</m:t>
                      </m:r>
                      <m:r>
                        <m:rPr>
                          <m:nor/>
                          <m:sty m:val="p"/>
                        </m:rPr>
                        <m:t>edge_w</m:t>
                      </m:r>
                    </m:oMath>
                  </m:oMathPara>
                </a14:m>
              </a:p>
              <a:p>
                <a:pPr lvl="0"/>
                <a:r>
                  <a:rPr b="1"/>
                  <a:t>Sum, not mean</a:t>
                </a:r>
                <a:r>
                  <a:rPr/>
                  <a:t> — total repressive load is </a:t>
                </a:r>
                <a:r>
                  <a:rPr i="1"/>
                  <a:t>additive</a:t>
                </a:r>
                <a:r>
                  <a:rPr/>
                  <a:t>; a gene crowded by many regulators is under more pressure.</a:t>
                </a:r>
              </a:p>
              <a:p>
                <a:pPr lvl="0"/>
                <a14:m>
                  <m:oMath xmlns:m="http://schemas.openxmlformats.org/officeDocument/2006/math">
                    <m:r>
                      <m:t>c</m:t>
                    </m:r>
                  </m:oMath>
                </a14:m>
                <a:r>
                  <a:rPr/>
                  <a:t> is the </a:t>
                </a:r>
                <a:r>
                  <a:rPr b="1"/>
                  <a:t>atom</a:t>
                </a:r>
                <a:r>
                  <a:rPr/>
                  <a:t>: every share, family and acquired number is built from it.</a:t>
                </a:r>
              </a:p>
              <a:p>
                <a:pPr lvl="0"/>
                <a:r>
                  <a:rPr/>
                  <a:t>Everything is </a:t>
                </a:r>
                <a:r>
                  <a:rPr b="1"/>
                  <a:t>within-scope</a:t>
                </a:r>
                <a:r>
                  <a:rPr/>
                  <a:t> (cohort vs one PAM50) — subtype tables are not cohort numbers re-sliced.</a:t>
                </a:r>
              </a:p>
            </p:txBody>
          </p:sp>
        </mc:Choice>
      </mc:AlternateContent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6b · The expression piece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nor/>
                          <m:sty m:val="p"/>
                        </m:rPr>
                        <m:t>expr_mult</m:t>
                      </m:r>
                      <m:r>
                        <m:rPr>
                          <m:sty m:val="p"/>
                        </m:rPr>
                        <m:t>=</m:t>
                      </m:r>
                      <m:limLow>
                        <m:e>
                          <m:limLow>
                            <m:e>
                              <m:r>
                                <m:rPr>
                                  <m:sty m:val="p"/>
                                </m:rPr>
                                <m:t>s</m:t>
                              </m:r>
                              <m:r>
                                <m:rPr>
                                  <m:sty m:val="p"/>
                                </m:rPr>
                                <m:t>m</m:t>
                              </m:r>
                              <m:r>
                                <m:rPr>
                                  <m:sty m:val="p"/>
                                </m:rPr>
                                <m:t>(</m:t>
                              </m:r>
                              <m:r>
                                <m:t>m</m:t>
                              </m:r>
                              <m:r>
                                <m:rPr>
                                  <m:sty m:val="p"/>
                                </m:rPr>
                                <m:t>,</m:t>
                              </m:r>
                              <m:r>
                                <m:t>s</m:t>
                              </m:r>
                              <m:r>
                                <m:rPr>
                                  <m:sty m:val="p"/>
                                </m:rPr>
                                <m:t>)</m:t>
                              </m:r>
                            </m:e>
                            <m:lim>
                              <m:r>
                                <m:rPr>
                                  <m:sty m:val="p"/>
                                </m:rPr>
                                <m:t>⏟</m:t>
                              </m:r>
                            </m:lim>
                          </m:limLow>
                        </m:e>
                        <m:lim>
                          <m:r>
                            <m:rPr>
                              <m:nor/>
                              <m:sty m:val="p"/>
                            </m:rPr>
                            <m:t>competition</m:t>
                          </m:r>
                        </m:lim>
                      </m:limLow>
                      <m:r>
                        <m:rPr>
                          <m:sty m:val="p"/>
                        </m:rPr>
                        <m:t>⋅</m:t>
                      </m:r>
                      <m:limLow>
                        <m:e>
                          <m:limLow>
                            <m:e>
                              <m:r>
                                <m:t>z</m:t>
                              </m:r>
                              <m:r>
                                <m:rPr>
                                  <m:sty m:val="p"/>
                                </m:rPr>
                                <m:t>(</m:t>
                              </m:r>
                              <m:r>
                                <m:t>m</m:t>
                              </m:r>
                              <m:r>
                                <m:rPr>
                                  <m:sty m:val="p"/>
                                </m:rPr>
                                <m:t>,</m:t>
                              </m:r>
                              <m:r>
                                <m:t>s</m:t>
                              </m:r>
                              <m:r>
                                <m:rPr>
                                  <m:sty m:val="p"/>
                                </m:rPr>
                                <m:t>)</m:t>
                              </m:r>
                            </m:e>
                            <m:lim>
                              <m:r>
                                <m:rPr>
                                  <m:sty m:val="p"/>
                                </m:rPr>
                                <m:t>⏟</m:t>
                              </m:r>
                            </m:lim>
                          </m:limLow>
                        </m:e>
                        <m:lim>
                          <m:r>
                            <m:rPr>
                              <m:nor/>
                              <m:sty m:val="p"/>
                            </m:rPr>
                            <m:t>dynamics</m:t>
                          </m:r>
                        </m:lim>
                      </m:limLow>
                      <m:r>
                        <m:rPr>
                          <m:sty m:val="p"/>
                        </m:rPr>
                        <m:t>⋅</m:t>
                      </m:r>
                      <m:limLow>
                        <m:e>
                          <m:limLow>
                            <m:e>
                              <m:sSub>
                                <m:e>
                                  <m:r>
                                    <m:rPr>
                                      <m:sty m:val="p"/>
                                    </m:rPr>
                                    <m:t>log</m:t>
                                  </m:r>
                                </m:e>
                                <m:sub>
                                  <m:r>
                                    <m:t>2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m:t>R</m:t>
                              </m:r>
                              <m:r>
                                <m:rPr>
                                  <m:sty m:val="p"/>
                                </m:rPr>
                                <m:t>P</m:t>
                              </m:r>
                              <m:r>
                                <m:rPr>
                                  <m:sty m:val="p"/>
                                </m:rPr>
                                <m:t>M</m:t>
                              </m:r>
                              <m:r>
                                <m:rPr>
                                  <m:sty m:val="p"/>
                                </m:rPr>
                                <m:t>+</m:t>
                              </m:r>
                              <m: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m:t>)</m:t>
                              </m:r>
                            </m:e>
                            <m:lim>
                              <m:r>
                                <m:rPr>
                                  <m:sty m:val="p"/>
                                </m:rPr>
                                <m:t>⏟</m:t>
                              </m:r>
                            </m:lim>
                          </m:limLow>
                        </m:e>
                        <m:lim>
                          <m:r>
                            <m:rPr>
                              <m:nor/>
                              <m:sty m:val="p"/>
                            </m:rPr>
                            <m:t>abundance</m:t>
                          </m:r>
                        </m:lim>
                      </m:limLow>
                    </m:oMath>
                  </m:oMathPara>
                </a14:m>
              </a:p>
              <a:p>
                <a:pPr lvl="0"/>
                <a:r>
                  <a:rPr b="1"/>
                  <a:t>share</a:t>
                </a:r>
                <a:r>
                  <a:rPr/>
                  <a:t> — arms </a:t>
                </a:r>
                <a:r>
                  <a:rPr i="1"/>
                  <a:t>compete</a:t>
                </a:r>
                <a:r>
                  <a:rPr/>
                  <a:t> for finite RISC on a gene → softmax over </a:t>
                </a:r>
                <a14:m>
                  <m:oMath xmlns:m="http://schemas.openxmlformats.org/officeDocument/2006/math">
                    <m:r>
                      <m:t>R</m:t>
                    </m:r>
                    <m:r>
                      <m:rPr>
                        <m:sty m:val="p"/>
                      </m:rPr>
                      <m:t>(</m:t>
                    </m:r>
                    <m:r>
                      <m:t>g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  <a:r>
                  <a:rPr/>
                  <a:t>, centered on each arm’s cohort median.</a:t>
                </a:r>
              </a:p>
              <a:p>
                <a:pPr lvl="0"/>
                <a:r>
                  <a:rPr b="1"/>
                  <a:t>z</a:t>
                </a:r>
                <a:r>
                  <a:rPr/>
                  <a:t> — the dynamics term coupling reads; </a:t>
                </a:r>
                <a:r>
                  <a:rPr i="1"/>
                  <a:t>by design</a:t>
                </a:r>
                <a:r>
                  <a:rPr/>
                  <a:t> a stably-high arm → </a:t>
                </a:r>
                <a14:m>
                  <m:oMath xmlns:m="http://schemas.openxmlformats.org/officeDocument/2006/math">
                    <m:r>
                      <m:t>z</m:t>
                    </m:r>
                    <m:r>
                      <m:rPr>
                        <m:sty m:val="p"/>
                      </m:rPr>
                      <m:t>≈</m:t>
                    </m:r>
                    <m:r>
                      <m:t>0</m:t>
                    </m:r>
                  </m:oMath>
                </a14:m>
                <a:r>
                  <a:rPr/>
                  <a:t> → zeroed.</a:t>
                </a:r>
              </a:p>
              <a:p>
                <a:pPr lvl="0"/>
                <a:r>
                  <a:rPr b="1"/>
                  <a:t>log2(RPM+1)</a:t>
                </a:r>
                <a:r>
                  <a:rPr/>
                  <a:t> — keeps absolute level, so a share between two near-zero arms ≠ one between two abundant arms.</a:t>
                </a:r>
              </a:p>
            </p:txBody>
          </p:sp>
        </mc:Choice>
      </mc:AlternateContent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6c · The evidence piece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nor/>
                          <m:sty m:val="p"/>
                        </m:rPr>
                        <m:t>edge_w</m:t>
                      </m:r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rPr>
                              <m:sty m:val="p"/>
                            </m:rPr>
                            <m:t>log</m:t>
                          </m:r>
                          <m:r>
                            <m:rPr>
                              <m:sty m:val="p"/>
                            </m:rPr>
                            <m:t>(</m:t>
                          </m:r>
                          <m:r>
                            <m:t>1</m:t>
                          </m:r>
                          <m:r>
                            <m:rPr>
                              <m:sty m:val="p"/>
                            </m:rPr>
                            <m:t>+</m:t>
                          </m:r>
                          <m:sSub>
                            <m:e>
                              <m:r>
                                <m:rPr>
                                  <m:nor/>
                                  <m:sty m:val="p"/>
                                </m:rPr>
                                <m:t>evidence</m:t>
                              </m:r>
                            </m:e>
                            <m:sub>
                              <m:r>
                                <m:rPr>
                                  <m:nor/>
                                  <m:sty m:val="p"/>
                                </m:rPr>
                                <m:t>eff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)</m:t>
                          </m:r>
                        </m:num>
                        <m:den>
                          <m:r>
                            <m:rPr>
                              <m:nor/>
                              <m:sty m:val="p"/>
                            </m:rPr>
                            <m:t>evidence_mass</m:t>
                          </m:r>
                          <m:r>
                            <m:rPr>
                              <m:sty m:val="p"/>
                            </m:rPr>
                            <m:t>(</m:t>
                          </m:r>
                          <m:r>
                            <m:t>m</m:t>
                          </m:r>
                          <m:r>
                            <m:rPr>
                              <m:sty m:val="p"/>
                            </m:rPr>
                            <m:t>)</m:t>
                          </m:r>
                        </m:den>
                      </m:f>
                      <m:r>
                        <m:rPr>
                          <m:sty m:val="p"/>
                        </m:rPr>
                        <m:t>,</m:t>
                      </m:r>
                      <m:r>
                        <m:t> </m:t>
                      </m:r>
                      <m:sSub>
                        <m:e>
                          <m:r>
                            <m:rPr>
                              <m:nor/>
                              <m:sty m:val="p"/>
                            </m:rPr>
                            <m:t>evidence</m:t>
                          </m:r>
                        </m:e>
                        <m:sub>
                          <m:r>
                            <m:rPr>
                              <m:nor/>
                              <m:sty m:val="p"/>
                            </m:rPr>
                            <m:t>eff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r>
                        <m:rPr>
                          <m:nor/>
                          <m:sty m:val="p"/>
                        </m:rPr>
                        <m:t>confidence_logclass</m:t>
                      </m:r>
                      <m:r>
                        <m:rPr>
                          <m:sty m:val="p"/>
                        </m:rPr>
                        <m:t>+</m:t>
                      </m:r>
                      <m:r>
                        <m:t>0.5</m:t>
                      </m:r>
                      <m:r>
                        <m:t> </m:t>
                      </m:r>
                      <m:r>
                        <m:rPr>
                          <m:nor/>
                          <m:sty m:val="p"/>
                        </m:rPr>
                        <m:t>enc_depth</m:t>
                      </m:r>
                    </m:oMath>
                  </m:oMathPara>
                </a14:m>
              </a:p>
              <a:p>
                <a:pPr lvl="0"/>
                <a:r>
                  <a:rPr b="1"/>
                  <a:t>assay-directness weights:</a:t>
                </a:r>
                <a:r>
                  <a:rPr/>
                  <a:t> reporter 3.0 &gt; protein 2.5 &gt; RNA/perturb 1.5 &gt; CLIP-binding 0.5.</a:t>
                </a:r>
              </a:p>
              <a:p>
                <a:pPr lvl="0"/>
                <a:r>
                  <a:rPr b="1"/>
                  <a:t>log1p within each class</a:t>
                </a:r>
                <a:r>
                  <a:rPr/>
                  <a:t> → diminishing returns, defuses publication-count bias.</a:t>
                </a:r>
              </a:p>
              <a:p>
                <a:pPr lvl="0"/>
                <a:r>
                  <a:rPr b="1"/>
                  <a:t>÷ evidence_mass</a:t>
                </a:r>
                <a:r>
                  <a:rPr/>
                  <a:t> = </a:t>
                </a:r>
                <a:r>
                  <a:rPr i="1"/>
                  <a:t>promiscuity penalty</a:t>
                </a:r>
                <a:r>
                  <a:rPr/>
                  <a:t> — a hub can’t dominate every gene by breadth.</a:t>
                </a:r>
              </a:p>
              <a:p>
                <a:pPr lvl="0"/>
                <a:r>
                  <a:rPr b="1"/>
                  <a:t>+ ENCORI AGO-CLIP</a:t>
                </a:r>
                <a:r>
                  <a:rPr/>
                  <a:t> (α=0.5) — an orthogonal experimental layer on ~25% of pairs.</a:t>
                </a:r>
              </a:p>
            </p:txBody>
          </p:sp>
        </mc:Choice>
      </mc:AlternateContent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6d · Why three modes (the centering choice)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centering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answers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softmax_z_logrpm</a:t>
                      </a:r>
                      <a:r>
                        <a:rPr/>
                        <a:t> </a:t>
                      </a:r>
                      <a:r>
                        <a:rPr b="1"/>
                        <a:t>(spine)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tumor mean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“who </a:t>
                      </a:r>
                      <a:r>
                        <a:rPr b="1"/>
                        <a:t>moves</a:t>
                      </a:r>
                      <a:r>
                        <a:rPr/>
                        <a:t>” → coupling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softmax_logrpm</a:t>
                      </a:r>
                      <a:r>
                        <a:rPr/>
                        <a:t> (no-z)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“who </a:t>
                      </a:r>
                      <a:r>
                        <a:rPr b="1"/>
                        <a:t>carries</a:t>
                      </a:r>
                      <a:r>
                        <a:rPr/>
                        <a:t> pressure” → attribution + cross-state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softmax_devhealthy_logrpm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healthy median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“what the tumor </a:t>
                      </a:r>
                      <a:r>
                        <a:rPr b="1"/>
                        <a:t>acquired</a:t>
                      </a:r>
                      <a:r>
                        <a:rPr/>
                        <a:t>”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Attribution policy:</a:t>
            </a:r>
            <a:r>
              <a:rPr/>
              <a:t> rank with </a:t>
            </a:r>
            <a:r>
              <a:rPr>
                <a:latin typeface="Courier"/>
              </a:rPr>
              <a:t>global_abs_share</a:t>
            </a:r>
            <a:r>
              <a:rPr/>
              <a:t>, diagnose with </a:t>
            </a:r>
            <a:r>
              <a:rPr>
                <a:latin typeface="Courier"/>
              </a:rPr>
              <a:t>global_signed_share</a:t>
            </a:r>
            <a:r>
              <a:rPr/>
              <a:t>, compute under no-z.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Step 3 — the AGO/RISC gate (key formula #2)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nor/>
                          <m:sty m:val="p"/>
                        </m:rPr>
                        <m:t>gate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s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=</m:t>
                      </m:r>
                      <m:sSub>
                        <m:e>
                          <m:r>
                            <m:t>g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m:t>min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1</m:t>
                      </m:r>
                      <m:r>
                        <m:rPr>
                          <m:sty m:val="p"/>
                        </m:rPr>
                        <m:t>−</m:t>
                      </m:r>
                      <m:sSub>
                        <m:e>
                          <m:r>
                            <m:t>g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m:t>min</m:t>
                          </m:r>
                        </m:sub>
                      </m:sSub>
                      <m:r>
                        <m:rPr>
                          <m:sty m:val="p"/>
                        </m:rPr>
                        <m:t>)</m:t>
                      </m:r>
                      <m:r>
                        <m:t> </m:t>
                      </m:r>
                      <m:r>
                        <m:t>σ</m:t>
                      </m:r>
                      <m:r>
                        <m:t>​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k</m:t>
                          </m:r>
                          <m:r>
                            <m:rPr>
                              <m:sty m:val="p"/>
                            </m:rPr>
                            <m:t>(</m:t>
                          </m:r>
                          <m:r>
                            <m:rPr>
                              <m:nor/>
                              <m:sty m:val="p"/>
                            </m:rPr>
                            <m:t>cap</m:t>
                          </m:r>
                          <m:r>
                            <m:rPr>
                              <m:sty m:val="p"/>
                            </m:rPr>
                            <m:t>(</m:t>
                          </m:r>
                          <m:r>
                            <m:t>s</m:t>
                          </m:r>
                          <m:r>
                            <m:rPr>
                              <m:sty m:val="p"/>
                            </m:rPr>
                            <m:t>)</m:t>
                          </m:r>
                          <m:r>
                            <m:rPr>
                              <m:sty m:val="p"/>
                            </m:rPr>
                            <m:t>−</m:t>
                          </m:r>
                          <m:sSub>
                            <m:e>
                              <m:r>
                                <m:t>c</m:t>
                              </m:r>
                            </m:e>
                            <m:sub>
                              <m:r>
                                <m:t>0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)</m:t>
                          </m:r>
                        </m:e>
                      </m:d>
                    </m:oMath>
                  </m:oMathPara>
                </a14:m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nor/>
                          <m:sty m:val="p"/>
                        </m:rPr>
                        <m:t>gated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rPr>
                          <m:nor/>
                          <m:sty m:val="p"/>
                        </m:rPr>
                        <m:t>pressure</m:t>
                      </m:r>
                      <m:r>
                        <m:rPr>
                          <m:sty m:val="p"/>
                        </m:rPr>
                        <m:t>×</m:t>
                      </m:r>
                      <m:r>
                        <m:rPr>
                          <m:nor/>
                          <m:sty m:val="p"/>
                        </m:rPr>
                        <m:t>gate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s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,</m:t>
                      </m:r>
                      <m:r>
                        <m:t> </m:t>
                      </m:r>
                      <m:r>
                        <m:rPr>
                          <m:nor/>
                          <m:sty m:val="p"/>
                        </m:rPr>
                        <m:t>gate</m:t>
                      </m:r>
                      <m:r>
                        <m:rPr>
                          <m:sty m:val="p"/>
                        </m:rPr>
                        <m:t>∈</m:t>
                      </m:r>
                      <m:r>
                        <m:rPr>
                          <m:sty m:val="p"/>
                        </m:rPr>
                        <m:t>[</m:t>
                      </m:r>
                      <m:r>
                        <m:t>0.5</m:t>
                      </m:r>
                      <m:r>
                        <m:rPr>
                          <m:sty m:val="p"/>
                        </m:rPr>
                        <m:t>,</m:t>
                      </m:r>
                      <m:r>
                        <m:t>1</m:t>
                      </m:r>
                      <m:r>
                        <m:rPr>
                          <m:sty m:val="p"/>
                        </m:rPr>
                        <m:t>]</m:t>
                      </m:r>
                    </m:oMath>
                  </m:oMathPara>
                </a14:m>
              </a:p>
              <a:p>
                <a:pPr lvl="0"/>
                <a:r>
                  <a:rPr/>
                  <a:t>capacity = mean AGO1–4 z-score.</a:t>
                </a:r>
              </a:p>
              <a:p>
                <a:pPr lvl="0"/>
                <a:r>
                  <a:rPr b="1"/>
                  <a:t>a documented sensitivity layer, not a causal model</a:t>
                </a:r>
                <a:r>
                  <a:rPr/>
                  <a:t> — every result reported gated </a:t>
                </a:r>
                <a:r>
                  <a:rPr b="1"/>
                  <a:t>and</a:t>
                </a:r>
                <a:r>
                  <a:rPr/>
                  <a:t> ungated.</a:t>
                </a:r>
              </a:p>
            </p:txBody>
          </p:sp>
        </mc:Choice>
      </mc:AlternateContent>
      <p:pic>
        <p:nvPicPr>
          <p:cNvPr descr="figures/F6_ago_gat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48200" y="1625600"/>
            <a:ext cx="4038600" cy="2527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Pressure cohort-wide — what it looks like</a:t>
            </a:r>
          </a:p>
        </p:txBody>
      </p:sp>
      <p:pic>
        <p:nvPicPr>
          <p:cNvPr descr="figures/F5_pressure_overview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752600"/>
            <a:ext cx="8229600" cy="2260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structured, not noise: a heavy tail of hub arms carries most of the load; genes have many regulators.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two read-outs — and what each is for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Enrichment</a:t>
            </a:r>
            <a:r>
              <a:rPr/>
              <a:t> — </a:t>
            </a:r>
            <a:r>
              <a:rPr i="1"/>
              <a:t>“where do miRNAs aim?”</a:t>
            </a:r>
          </a:p>
          <a:p>
            <a:pPr lvl="0"/>
            <a:r>
              <a:rPr/>
              <a:t>one-sided </a:t>
            </a:r>
            <a:r>
              <a:rPr b="1"/>
              <a:t>hypergeometric</a:t>
            </a:r>
            <a:r>
              <a:rPr/>
              <a:t> over-representation of high-evidence targets per hallmark, FDR across 50.</a:t>
            </a:r>
          </a:p>
          <a:p>
            <a:pPr lvl="0"/>
            <a:r>
              <a:rPr/>
              <a:t>descriptive; </a:t>
            </a:r>
            <a:r>
              <a:rPr b="1"/>
              <a:t>uses no expression</a:t>
            </a:r>
            <a:r>
              <a:rPr/>
              <a:t>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Coupling</a:t>
            </a:r>
            <a:r>
              <a:rPr/>
              <a:t> — </a:t>
            </a:r>
            <a:r>
              <a:rPr i="1"/>
              <a:t>“is the pressure observed?”</a:t>
            </a:r>
          </a:p>
          <a:p>
            <a:pPr lvl="0"/>
            <a:r>
              <a:rPr/>
              <a:t>partial </a:t>
            </a:r>
            <a:r>
              <a:rPr b="1"/>
              <a:t>Spearman</a:t>
            </a:r>
            <a:r>
              <a:rPr/>
              <a:t> of pressure vs target expression on a covariate ladder (raw → +CPE/HRD → +CN → +prolif).</a:t>
            </a:r>
          </a:p>
          <a:p>
            <a:pPr lvl="0"/>
            <a:r>
              <a:rPr/>
              <a:t>inferential; negative = repression realized.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Pipeline at a glance</a:t>
            </a:r>
          </a:p>
        </p:txBody>
      </p:sp>
      <p:pic>
        <p:nvPicPr>
          <p:cNvPr descr="figures/F8_pipeline_dag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651000"/>
            <a:ext cx="8229600" cy="2476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C · Core results (single state)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Result 1 — the targeting map</a:t>
            </a:r>
          </a:p>
        </p:txBody>
      </p:sp>
      <p:pic>
        <p:nvPicPr>
          <p:cNvPr descr="figures/F9_enrichmen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273300" y="1193800"/>
            <a:ext cx="45974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miRNAs buffer </a:t>
            </a:r>
            <a:r>
              <a:rPr b="1"/>
              <a:t>signaling &amp; plasticity</a:t>
            </a:r>
            <a:r>
              <a:rPr/>
              <a:t> (TGF-β, WNT, apoptosis, NF-κB, EMT) — not housekeeping metabolism.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Result 2 — hub miRNAs</a:t>
            </a:r>
          </a:p>
        </p:txBody>
      </p:sp>
      <p:pic>
        <p:nvPicPr>
          <p:cNvPr descr="figures/F10b_mir_fan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612900"/>
            <a:ext cx="4038600" cy="255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broadest regulators: miR-27a, miR-125b, </a:t>
            </a:r>
            <a:r>
              <a:rPr b="1"/>
              <a:t>miR-21</a:t>
            </a:r>
            <a:r>
              <a:rPr/>
              <a:t>, miR-34a (each ~44–45/50 sets).</a:t>
            </a:r>
          </a:p>
          <a:p>
            <a:pPr lvl="0"/>
            <a:r>
              <a:rPr/>
              <a:t>program leaders are the </a:t>
            </a:r>
            <a:r>
              <a:rPr b="1"/>
              <a:t>canonical</a:t>
            </a:r>
            <a:r>
              <a:rPr/>
              <a:t> ones: miR-34a→WNT, miR-29→EMT, miR-21/155→NF-κB, miR-17→TGF-β → internal-validity check.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Result 3 — does pressure repress?</a:t>
            </a:r>
          </a:p>
        </p:txBody>
      </p:sp>
      <p:pic>
        <p:nvPicPr>
          <p:cNvPr descr="figures/F11_coupling_volcano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562100"/>
            <a:ext cx="4038600" cy="2667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 b="1"/>
              <a:t>26/50</a:t>
            </a:r>
            <a:r>
              <a:rPr/>
              <a:t> gated-negative; </a:t>
            </a:r>
            <a:r>
              <a:rPr b="1"/>
              <a:t>21/50</a:t>
            </a:r>
            <a:r>
              <a:rPr/>
              <a:t> survive CPE+HRD (shown).</a:t>
            </a:r>
          </a:p>
          <a:p>
            <a:pPr lvl="0"/>
            <a:r>
              <a:rPr/>
              <a:t>positive couplings split into </a:t>
            </a:r>
            <a:r>
              <a:rPr b="1"/>
              <a:t>proliferation</a:t>
            </a:r>
            <a:r>
              <a:rPr/>
              <a:t> co-regulation (persists) vs a thinner </a:t>
            </a:r>
            <a:r>
              <a:rPr b="1"/>
              <a:t>composition artifact</a:t>
            </a:r>
            <a:r>
              <a:rPr/>
              <a:t> (collapses after purity/PAM50).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Result 4 — the subtype hub</a:t>
            </a:r>
          </a:p>
        </p:txBody>
      </p:sp>
      <p:pic>
        <p:nvPicPr>
          <p:cNvPr descr="figures/F12a_basal_heatmap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587500" y="1193800"/>
            <a:ext cx="17653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pic>
        <p:nvPicPr>
          <p:cNvPr descr="figures/F12b_pten_map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648200" y="1562100"/>
            <a:ext cx="4038600" cy="2667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Basal</a:t>
            </a:r>
            <a:r>
              <a:rPr/>
              <a:t> concentrates pressure on tumor-suppressor / EMT nodes — </a:t>
            </a:r>
            <a:r>
              <a:rPr b="1"/>
              <a:t>PTEN, BIM, FOXO1, CDKN1A, TGFBR2, VIM</a:t>
            </a:r>
            <a:r>
              <a:rPr/>
              <a:t> — via </a:t>
            </a:r>
            <a:r>
              <a:rPr b="1"/>
              <a:t>miR-17/20a/106b/23a/130b</a:t>
            </a:r>
            <a:r>
              <a:rPr/>
              <a:t>.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Result 5 — miRNA dosage</a:t>
            </a:r>
          </a:p>
        </p:txBody>
      </p:sp>
      <p:pic>
        <p:nvPicPr>
          <p:cNvPr descr="figures/F13_cnv_boxplo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714500"/>
            <a:ext cx="4038600" cy="2336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 b="1"/>
              <a:t>237/756 arms</a:t>
            </a:r>
            <a:r>
              <a:rPr/>
              <a:t> marginal positive locus-CN → expression concordance; </a:t>
            </a:r>
            <a:r>
              <a:rPr b="1"/>
              <a:t>196/756</a:t>
            </a:r>
            <a:r>
              <a:rPr/>
              <a:t> survive CPE+HRD partial.</a:t>
            </a:r>
          </a:p>
          <a:p>
            <a:pPr lvl="0"/>
            <a:r>
              <a:rPr/>
              <a:t>top: miR-151a at the </a:t>
            </a:r>
            <a:r>
              <a:rPr b="1"/>
              <a:t>8q24 MYC/AGO2</a:t>
            </a:r>
            <a:r>
              <a:rPr/>
              <a:t> amplicon; subtype hierarchy LumB≈Her2 &gt; Basal &gt; LumA.</a:t>
            </a:r>
          </a:p>
          <a:p>
            <a:pPr lvl="0"/>
            <a:r>
              <a:rPr i="1"/>
              <a:t>refreshed 2026-06-24 under the S1+MIMAT spine.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D · The cross-state landscape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From one state to three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tumor-only snapshot can’t say what’s </a:t>
            </a:r>
            <a:r>
              <a:rPr b="1"/>
              <a:t>acquired</a:t>
            </a:r>
            <a:r>
              <a:rPr/>
              <a:t>. Add </a:t>
            </a:r>
            <a:r>
              <a:rPr b="1"/>
              <a:t>GTEx-healthy → TCGA-NAT → TCGA-tumor</a:t>
            </a:r>
            <a:r>
              <a:rPr/>
              <a:t> (721 arms / 5,108 edges).</a:t>
            </a:r>
          </a:p>
          <a:p>
            <a:pPr lvl="0" indent="0" marL="0">
              <a:buNone/>
            </a:pPr>
            <a:r>
              <a:rPr/>
              <a:t>Every edge carries </a:t>
            </a:r>
            <a:r>
              <a:rPr b="1"/>
              <a:t>two</a:t>
            </a:r>
            <a:r>
              <a:rPr/>
              <a:t> measurements:</a:t>
            </a:r>
          </a:p>
          <a:p>
            <a:pPr lvl="0"/>
            <a:r>
              <a:rPr b="1"/>
              <a:t>pressure (potential)</a:t>
            </a:r>
            <a:r>
              <a:rPr/>
              <a:t> = edge weight × abundance — cross-state-comparable (no-z).</a:t>
            </a:r>
          </a:p>
          <a:p>
            <a:pPr lvl="0"/>
            <a:r>
              <a:rPr b="1"/>
              <a:t>coupling (realized)</a:t>
            </a:r>
            <a:r>
              <a:rPr/>
              <a:t> = ESTIMATE+epithelial-adjusted partial-Spearman, </a:t>
            </a:r>
            <a:r>
              <a:rPr b="1"/>
              <a:t>per state</a:t>
            </a:r>
            <a:r>
              <a:rPr/>
              <a:t>.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acquired program</a:t>
            </a:r>
          </a:p>
        </p:txBody>
      </p:sp>
      <p:pic>
        <p:nvPicPr>
          <p:cNvPr descr="figures/F15_acquired_volcano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549400"/>
            <a:ext cx="4038600" cy="2667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 b="1"/>
              <a:t>241/721 arms gain</a:t>
            </a:r>
            <a:r>
              <a:rPr/>
              <a:t> on ≥1 axis.</a:t>
            </a:r>
          </a:p>
          <a:p>
            <a:pPr lvl="0"/>
            <a:r>
              <a:rPr/>
              <a:t>rank </a:t>
            </a:r>
            <a:r>
              <a:rPr>
                <a:latin typeface="Courier"/>
              </a:rPr>
              <a:t>dHT</a:t>
            </a:r>
            <a:r>
              <a:rPr/>
              <a:t> </a:t>
            </a:r>
            <a:r>
              <a:rPr b="1"/>
              <a:t>saturates</a:t>
            </a:r>
            <a:r>
              <a:rPr/>
              <a:t> → magnitude </a:t>
            </a:r>
            <a:r>
              <a:rPr>
                <a:latin typeface="Courier"/>
              </a:rPr>
              <a:t>log2FC</a:t>
            </a:r>
            <a:r>
              <a:rPr/>
              <a:t> recovers the </a:t>
            </a:r>
            <a:r>
              <a:rPr b="1"/>
              <a:t>oncomiR surge</a:t>
            </a:r>
            <a:r>
              <a:rPr/>
              <a:t> (miR-182/183/375/93).</a:t>
            </a:r>
          </a:p>
          <a:p>
            <a:pPr lvl="0"/>
            <a:r>
              <a:rPr/>
              <a:t>top acquired = a coherent </a:t>
            </a:r>
            <a:r>
              <a:rPr b="1"/>
              <a:t>miR-21 program</a:t>
            </a:r>
            <a:r>
              <a:rPr/>
              <a:t>.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R / P / 0 method</a:t>
            </a:r>
          </a:p>
        </p:txBody>
      </p:sp>
      <p:pic>
        <p:nvPicPr>
          <p:cNvPr descr="figures/F16_rp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460500"/>
            <a:ext cx="8229600" cy="2844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Switched-on repression &amp; released brakes</a:t>
            </a:r>
          </a:p>
        </p:txBody>
      </p:sp>
      <p:pic>
        <p:nvPicPr>
          <p:cNvPr descr="figures/F17_edge_transition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866900" y="1193800"/>
            <a:ext cx="12192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acquired_realized (610 edges)</a:t>
            </a:r>
            <a:r>
              <a:rPr/>
              <a:t> — newly switched-on; highlight </a:t>
            </a:r>
            <a:r>
              <a:rPr b="1"/>
              <a:t>miR-744-3p → HLA-G + TGFB1</a:t>
            </a:r>
            <a:r>
              <a:rPr/>
              <a:t> (acquired immune-tolerance, </a:t>
            </a:r>
            <a:r>
              <a:rPr i="1"/>
              <a:t>candidate</a:t>
            </a:r>
            <a:r>
              <a:rPr/>
              <a:t>).</a:t>
            </a:r>
          </a:p>
          <a:p>
            <a:pPr lvl="0" indent="0" marL="0">
              <a:buNone/>
            </a:pPr>
            <a:r>
              <a:rPr b="1"/>
              <a:t>released brakes (R00, 213 edges)</a:t>
            </a:r>
            <a:r>
              <a:rPr/>
              <a:t> — healthy holds </a:t>
            </a:r>
            <a:r>
              <a:rPr b="1"/>
              <a:t>ERBB2, CXCR4, MMP2/14, NOTCH2, BIM</a:t>
            </a:r>
            <a:r>
              <a:rPr/>
              <a:t> repressed; tumor releases.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Is the de-coupling real?</a:t>
            </a:r>
          </a:p>
        </p:txBody>
      </p:sp>
      <p:pic>
        <p:nvPicPr>
          <p:cNvPr descr="figures/F18_decoupling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968500"/>
            <a:ext cx="4038600" cy="1828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 b="1"/>
              <a:t>not</a:t>
            </a:r>
            <a:r>
              <a:rPr/>
              <a:t> copy number (0/220), </a:t>
            </a:r>
            <a:r>
              <a:rPr b="1"/>
              <a:t>not</a:t>
            </a:r>
            <a:r>
              <a:rPr/>
              <a:t> promoter methylation (1/188).</a:t>
            </a:r>
          </a:p>
          <a:p>
            <a:pPr lvl="0"/>
            <a:r>
              <a:rPr/>
              <a:t>small </a:t>
            </a:r>
            <a:r>
              <a:rPr b="1"/>
              <a:t>4/134</a:t>
            </a:r>
            <a:r>
              <a:rPr/>
              <a:t> direct-ATAC minority at growth/cell-cycle loci.</a:t>
            </a:r>
          </a:p>
          <a:p>
            <a:pPr lvl="0"/>
            <a:r>
              <a:rPr/>
              <a:t>⇒ mechanism is </a:t>
            </a:r>
            <a:r>
              <a:rPr b="1"/>
              <a:t>post-transcriptional / competitive</a:t>
            </a:r>
            <a:r>
              <a:rPr/>
              <a:t> (APA, ceRNA, RISC).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NMF — method &amp; rationale</a:t>
            </a:r>
          </a:p>
        </p:txBody>
      </p:sp>
      <p:pic>
        <p:nvPicPr>
          <p:cNvPr descr="figures/F19_nmf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2235200"/>
            <a:ext cx="4038600" cy="1308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factor pressure matrices into </a:t>
            </a:r>
            <a:r>
              <a:rPr b="1"/>
              <a:t>co-varying programs</a:t>
            </a:r>
            <a:r>
              <a:rPr/>
              <a:t>; the menu spans aggregate, within-tumor, per-subtype, gene-pressure, signed gain/loss, and share.</a:t>
            </a:r>
          </a:p>
          <a:p>
            <a:pPr lvl="0" indent="0" marL="0">
              <a:buNone/>
            </a:pPr>
            <a:r>
              <a:rPr i="1"/>
              <a:t>factor indices renumber every rebuild → track the content </a:t>
            </a:r>
            <a:r>
              <a:rPr i="1">
                <a:latin typeface="Courier"/>
              </a:rPr>
              <a:t>factor_label</a:t>
            </a:r>
            <a:r>
              <a:rPr i="1"/>
              <a:t>.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NMF — selected results</a:t>
            </a:r>
          </a:p>
        </p:txBody>
      </p:sp>
      <p:pic>
        <p:nvPicPr>
          <p:cNvPr descr="figures/F20_nmf_basal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689100"/>
            <a:ext cx="4038600" cy="2413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programs are </a:t>
            </a:r>
            <a:r>
              <a:rPr b="1"/>
              <a:t>PAM50-divergent</a:t>
            </a:r>
            <a:r>
              <a:rPr/>
              <a:t> (Basal TNFA/NFKB, q≈1e-139).</a:t>
            </a:r>
          </a:p>
          <a:p>
            <a:pPr lvl="0"/>
            <a:r>
              <a:rPr/>
              <a:t>but what each tumor </a:t>
            </a:r>
            <a:r>
              <a:rPr b="1"/>
              <a:t>acquires</a:t>
            </a:r>
            <a:r>
              <a:rPr/>
              <a:t> is one shared backbone (46% cohort / 68% Basal).</a:t>
            </a:r>
          </a:p>
          <a:p>
            <a:pPr lvl="0"/>
            <a:r>
              <a:rPr b="1"/>
              <a:t>divergent baseline, convergent acquisition.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Gene-set architecture — the brake-release thesis</a:t>
            </a:r>
          </a:p>
        </p:txBody>
      </p:sp>
      <p:pic>
        <p:nvPicPr>
          <p:cNvPr descr="figures/F21_architectur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540000" y="1193800"/>
            <a:ext cx="40640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7,840</a:t>
            </a:r>
            <a:r>
              <a:rPr/>
              <a:t> net-repressing vs </a:t>
            </a:r>
            <a:r>
              <a:rPr b="1"/>
              <a:t>114</a:t>
            </a:r>
            <a:r>
              <a:rPr/>
              <a:t> net-activating pairs: miRNAs </a:t>
            </a:r>
            <a:r>
              <a:rPr b="1"/>
              <a:t>damage engines</a:t>
            </a:r>
            <a:r>
              <a:rPr/>
              <a:t>, but their malignant effect is </a:t>
            </a:r>
            <a:r>
              <a:rPr b="1"/>
              <a:t>brake-release on suppressive programs</a:t>
            </a:r>
            <a:r>
              <a:rPr/>
              <a:t>. miR-21 #1 (93% acquired).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E · Did we believe it?</a:t>
            </a:r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Robustness 1 — proliferation</a:t>
            </a:r>
          </a:p>
        </p:txBody>
      </p:sp>
      <p:pic>
        <p:nvPicPr>
          <p:cNvPr descr="figures/F23_hub_lad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612900"/>
            <a:ext cx="4038600" cy="2540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adjust on MKI67 / E2F-MYC-stripped G2M / PC1 → coupling </a:t>
            </a:r>
            <a:r>
              <a:rPr b="1"/>
              <a:t>survives &amp; strengthens</a:t>
            </a:r>
            <a:r>
              <a:rPr/>
              <a:t> (8/8 key; Basal 41/50).</a:t>
            </a:r>
          </a:p>
          <a:p>
            <a:pPr lvl="0"/>
            <a:r>
              <a:rPr/>
              <a:t>proliferation is a </a:t>
            </a:r>
            <a:r>
              <a:rPr b="1"/>
              <a:t>suppressor confound</a:t>
            </a:r>
            <a:r>
              <a:rPr/>
              <a:t>. PTEN/CDKN1A/TGFBR2/VIM robust.</a:t>
            </a:r>
          </a:p>
        </p:txBody>
      </p:sp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Robustness 2 — curation bias</a:t>
            </a:r>
          </a:p>
        </p:txBody>
      </p:sp>
      <p:pic>
        <p:nvPicPr>
          <p:cNvPr descr="figures/F24_robustnes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422400"/>
            <a:ext cx="8229600" cy="2921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miR-17-5p is #1 under evidence, binary </a:t>
            </a:r>
            <a:r>
              <a:rPr b="1"/>
              <a:t>and</a:t>
            </a:r>
            <a:r>
              <a:rPr/>
              <a:t> TargetScan weighting (ρ≈0.65). </a:t>
            </a:r>
            <a:r>
              <a:rPr b="1"/>
              <a:t>Not</a:t>
            </a:r>
            <a:r>
              <a:rPr/>
              <a:t> a curation artifact.</a:t>
            </a:r>
          </a:p>
        </p:txBody>
      </p:sp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Validation 1 — protein layer (CPTAC)</a:t>
            </a:r>
          </a:p>
        </p:txBody>
      </p:sp>
      <p:pic>
        <p:nvPicPr>
          <p:cNvPr descr="figures/F25_cptac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562100"/>
            <a:ext cx="4038600" cy="2667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Independent </a:t>
            </a:r>
            <a:r>
              <a:rPr b="1"/>
              <a:t>CPTAC-2 prospective (TMT)</a:t>
            </a:r>
            <a:r>
              <a:rPr/>
              <a:t> validates: </a:t>
            </a:r>
            <a:r>
              <a:rPr b="1"/>
              <a:t>53/1143</a:t>
            </a:r>
            <a:r>
              <a:rPr/>
              <a:t> genes FDR-neg; </a:t>
            </a:r>
            <a:r>
              <a:rPr b="1"/>
              <a:t>ZEB1 ρ=−0.55</a:t>
            </a:r>
            <a:r>
              <a:rPr/>
              <a:t>. Mostly </a:t>
            </a:r>
            <a:r>
              <a:rPr b="1"/>
              <a:t>mRNA-mediated</a:t>
            </a:r>
            <a:r>
              <a:rPr/>
              <a:t>.</a:t>
            </a:r>
          </a:p>
          <a:p>
            <a:pPr lvl="0"/>
            <a:r>
              <a:rPr b="1"/>
              <a:t>A</a:t>
            </a:r>
            <a:r>
              <a:rPr/>
              <a:t> mRNA-dominant: ZEB1, CALD1, MMP2.</a:t>
            </a:r>
          </a:p>
          <a:p>
            <a:pPr lvl="0"/>
            <a:r>
              <a:rPr b="1"/>
              <a:t>B</a:t>
            </a:r>
            <a:r>
              <a:rPr/>
              <a:t> protein/translational (the payoff): </a:t>
            </a:r>
            <a:r>
              <a:rPr b="1"/>
              <a:t>PTEN −0.10 → −0.38 via miR-17-5p</a:t>
            </a:r>
            <a:r>
              <a:rPr/>
              <a:t>, DDAH1, ARHGDIA, PEBP1.</a:t>
            </a:r>
          </a:p>
          <a:p>
            <a:pPr lvl="0"/>
            <a:r>
              <a:rPr b="1"/>
              <a:t>C</a:t>
            </a:r>
            <a:r>
              <a:rPr/>
              <a:t> mixed: KRT8, BMP1.</a:t>
            </a:r>
          </a:p>
        </p:txBody>
      </p:sp>
    </p:spTree>
  </p:cSld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Validation 2 — orphan-blind discovery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</a:t>
            </a:r>
            <a:r>
              <a:rPr b="1"/>
              <a:t>blind</a:t>
            </a:r>
            <a:r>
              <a:rPr/>
              <a:t> scan of </a:t>
            </a:r>
            <a:r>
              <a:rPr b="1"/>
              <a:t>20,663</a:t>
            </a:r>
            <a:r>
              <a:rPr/>
              <a:t> orphan edges (miRTarBase-absent) vs CPTAC protein → </a:t>
            </a:r>
            <a:r>
              <a:rPr b="1"/>
              <a:t>539 protein / 182 translational / 93 translational+TCGA-replicated</a:t>
            </a:r>
            <a:r>
              <a:rPr/>
              <a:t> candidates (76 fully uncurated).</a:t>
            </a:r>
          </a:p>
          <a:p>
            <a:pPr lvl="0"/>
            <a:r>
              <a:rPr/>
              <a:t>method </a:t>
            </a:r>
            <a:r>
              <a:rPr b="1"/>
              <a:t>self-validates</a:t>
            </a:r>
            <a:r>
              <a:rPr/>
              <a:t> by de-novo recovery of </a:t>
            </a:r>
            <a:r>
              <a:rPr b="1"/>
              <a:t>miR-29 → collagen/ECM</a:t>
            </a:r>
            <a:r>
              <a:rPr/>
              <a:t>.</a:t>
            </a:r>
          </a:p>
          <a:p>
            <a:pPr lvl="0"/>
            <a:r>
              <a:rPr/>
              <a:t>cell-composition confound pilot: 24 → </a:t>
            </a:r>
            <a:r>
              <a:rPr b="1"/>
              <a:t>17</a:t>
            </a:r>
            <a:r>
              <a:rPr/>
              <a:t> survive; robust core </a:t>
            </a:r>
            <a:r>
              <a:rPr b="1"/>
              <a:t>miR-15/16/195→PMM1</a:t>
            </a:r>
            <a:r>
              <a:rPr/>
              <a:t>, </a:t>
            </a:r>
            <a:r>
              <a:rPr b="1"/>
              <a:t>miR-19a/b→PPM1A</a:t>
            </a:r>
            <a:r>
              <a:rPr/>
              <a:t>.</a:t>
            </a:r>
          </a:p>
          <a:p>
            <a:pPr lvl="0"/>
            <a:r>
              <a:rPr i="1"/>
              <a:t>wet-lab nominations, not validated edges.</a:t>
            </a:r>
          </a:p>
        </p:txBody>
      </p:sp>
    </p:spTree>
  </p:cSld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Validation 3 — independent cohort (Buffa)</a:t>
            </a:r>
          </a:p>
        </p:txBody>
      </p:sp>
      <p:pic>
        <p:nvPicPr>
          <p:cNvPr descr="figures/F27_buffa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47700" y="1193800"/>
            <a:ext cx="3644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207 paired breast tumors, </a:t>
            </a:r>
            <a:r>
              <a:rPr b="1"/>
              <a:t>no TCGA overlap</a:t>
            </a:r>
            <a:r>
              <a:rPr/>
              <a:t>: partial-ρ </a:t>
            </a:r>
            <a:r>
              <a:rPr b="1"/>
              <a:t>concordance +0.32</a:t>
            </a:r>
            <a:r>
              <a:rPr/>
              <a:t>, </a:t>
            </a:r>
            <a:r>
              <a:rPr b="1"/>
              <a:t>67% sign-concordance</a:t>
            </a:r>
            <a:r>
              <a:rPr/>
              <a:t>; </a:t>
            </a:r>
            <a:r>
              <a:rPr b="1"/>
              <a:t>108 orphans triple-validated</a:t>
            </a:r>
            <a:r>
              <a:rPr/>
              <a:t> (TCGA·CPTAC·Buffa).</a:t>
            </a:r>
          </a:p>
        </p:txBody>
      </p:sp>
    </p:spTree>
  </p:cSld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Scorecard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Solid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Exploratory / candidate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targeting map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miR-744 → HLA-G immune edge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Basal tumor-suppressor hub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AGO-gate causality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proliferation robustness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de-coupling mechanism (APA/ceRNA)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CPTAC-2 protein validation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orphan nominations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brake-release architecture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miR-29 → ECM orphan axis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</a:tc>
              </a:tr>
            </a:tbl>
          </a:graphicData>
        </a:graphic>
      </p:graphicFrame>
    </p:spTree>
  </p:cSld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F · Wrap</a:t>
            </a:r>
          </a:p>
        </p:txBody>
      </p:sp>
    </p:spTree>
  </p:cSld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pressure is </a:t>
            </a:r>
            <a:r>
              <a:rPr b="1"/>
              <a:t>associative</a:t>
            </a:r>
            <a:r>
              <a:rPr/>
              <a:t>, not causal.</a:t>
            </a:r>
          </a:p>
          <a:p>
            <a:pPr lvl="0"/>
            <a:r>
              <a:rPr/>
              <a:t>miRTarBase </a:t>
            </a:r>
            <a:r>
              <a:rPr b="1"/>
              <a:t>curation bias</a:t>
            </a:r>
            <a:r>
              <a:rPr/>
              <a:t> → read rankings, not absolute folds.</a:t>
            </a:r>
          </a:p>
          <a:p>
            <a:pPr lvl="0"/>
            <a:r>
              <a:rPr/>
              <a:t>gene-gene topology can’t see lipid-mediated inhibition (PTEN→PIP3).</a:t>
            </a:r>
          </a:p>
          <a:p>
            <a:pPr lvl="0"/>
            <a:r>
              <a:rPr/>
              <a:t>164 </a:t>
            </a:r>
            <a:r>
              <a:rPr>
                <a:latin typeface="Courier"/>
              </a:rPr>
              <a:t>floor0</a:t>
            </a:r>
            <a:r>
              <a:rPr/>
              <a:t> arms lack a healthy reference; AGO gate is a bounded heuristic.</a:t>
            </a:r>
          </a:p>
          <a:p>
            <a:pPr lvl="0"/>
            <a:r>
              <a:rPr/>
              <a:t>de-coupling mechanism not yet pinned; dosage module pre-MIMAT.</a:t>
            </a:r>
          </a:p>
        </p:txBody>
      </p:sp>
    </p:spTree>
  </p:cSld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What’s next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stratum-resolved within-PAM50 coupling.</a:t>
            </a:r>
          </a:p>
          <a:p>
            <a:pPr lvl="0"/>
            <a:r>
              <a:rPr b="1"/>
              <a:t>pin the de-coupling mechanism</a:t>
            </a:r>
            <a:r>
              <a:rPr/>
              <a:t> with the APM motif / SV / APA per-sample layer.</a:t>
            </a:r>
          </a:p>
          <a:p>
            <a:pPr lvl="0"/>
            <a:r>
              <a:rPr/>
              <a:t>loss-of-repression; fitted AGO×pressure; larger per-tumor ATAC; METABRIC.</a:t>
            </a:r>
          </a:p>
        </p:txBody>
      </p:sp>
    </p:spTree>
  </p:cSld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Takeaway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miRNAs target </a:t>
            </a:r>
            <a:r>
              <a:rPr b="1"/>
              <a:t>signaling / plasticity</a:t>
            </a:r>
            <a:r>
              <a:rPr/>
              <a:t> programs.</a:t>
            </a:r>
          </a:p>
          <a:p>
            <a:pPr lvl="0" indent="-342900" marL="342900">
              <a:buAutoNum type="arabicPeriod"/>
            </a:pPr>
            <a:r>
              <a:rPr/>
              <a:t>the malignant move across healthy→tumor is </a:t>
            </a:r>
            <a:r>
              <a:rPr b="1"/>
              <a:t>brake-release on suppressive programs</a:t>
            </a:r>
            <a:r>
              <a:rPr/>
              <a:t> — subtype-structured (</a:t>
            </a:r>
            <a:r>
              <a:rPr b="1"/>
              <a:t>Basal miR-17~92 on tumor suppressors</a:t>
            </a:r>
            <a:r>
              <a:rPr/>
              <a:t>; PTEN the through-line: core → landscape → CPTAC protein).</a:t>
            </a:r>
          </a:p>
          <a:p>
            <a:pPr lvl="0" indent="-342900" marL="342900">
              <a:buAutoNum type="arabicPeriod"/>
            </a:pPr>
            <a:r>
              <a:rPr/>
              <a:t>it </a:t>
            </a:r>
            <a:r>
              <a:rPr b="1"/>
              <a:t>replicates</a:t>
            </a:r>
            <a:r>
              <a:rPr/>
              <a:t> at protein (CPTAC-2) and in an independent cohort (Buffa).</a:t>
            </a:r>
          </a:p>
        </p:txBody>
      </p:sp>
    </p:spTree>
  </p:cSld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Backup — formulas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S1 evidence scorer (</a:t>
            </a:r>
            <a:r>
              <a:rPr>
                <a:latin typeface="Courier"/>
              </a:rPr>
              <a:t>confidence_logclass</a:t>
            </a:r>
            <a:r>
              <a:rPr/>
              <a:t> weights) + ENCORI depth boost (α=0.5).</a:t>
            </a:r>
          </a:p>
          <a:p>
            <a:pPr lvl="0"/>
            <a:r>
              <a:rPr/>
              <a:t>no-z cross-state spine; healthy-anchored </a:t>
            </a:r>
            <a:r>
              <a:rPr>
                <a:latin typeface="Courier"/>
              </a:rPr>
              <a:t>dev</a:t>
            </a:r>
            <a:r>
              <a:rPr/>
              <a:t> mode.</a:t>
            </a:r>
          </a:p>
          <a:p>
            <a:pPr lvl="0"/>
            <a:r>
              <a:rPr/>
              <a:t>hypergeometric enrichment; signed-path propagation (Katz α=0.25, 6 hops).</a:t>
            </a:r>
          </a:p>
          <a:p>
            <a:pPr lvl="0"/>
            <a:r>
              <a:rPr/>
              <a:t>gene-role malignancy + DepMap continuous weight.</a:t>
            </a:r>
          </a:p>
          <a:p>
            <a:pPr lvl="0"/>
            <a:r>
              <a:rPr/>
              <a:t>R/P/0 thresholds (|ρ|&gt;0.10, q&lt;0.05); arm-resolve Tier A/B/C.</a:t>
            </a:r>
          </a:p>
          <a:p>
            <a:pPr lvl="0" indent="0" marL="0">
              <a:buNone/>
            </a:pPr>
            <a:r>
              <a:rPr i="1"/>
              <a:t>Sources: </a:t>
            </a:r>
            <a:r>
              <a:rPr i="1">
                <a:latin typeface="Courier"/>
              </a:rPr>
              <a:t>docs/{FORMULAS,METHODS,LANDSCAPE_REPORT,CPTAC_VALIDATION_SESSION_SUMMARY}.md</a:t>
            </a:r>
            <a:r>
              <a:rPr i="1"/>
              <a:t>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miRNA pressure on cancer-hallmark programs in TCGA-BRCA</dc:title>
  <dc:creator>Stav Zok</dc:creator>
  <cp:keywords/>
  <dcterms:created xsi:type="dcterms:W3CDTF">2026-06-24T16:31:02Z</dcterms:created>
  <dcterms:modified xsi:type="dcterms:W3CDTF">2026-06-24T16:31:02Z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date">
    <vt:lpwstr>2026-06-24</vt:lpwstr>
  </property>
  <property fmtid="{D5CDD505-2E9C-101B-9397-08002B2CF9AE}" pid="6" name="engines">
    <vt:lpwstr/>
  </property>
  <property fmtid="{D5CDD505-2E9C-101B-9397-08002B2CF9AE}" pid="7" name="header-includes">
    <vt:lpwstr/>
  </property>
  <property fmtid="{D5CDD505-2E9C-101B-9397-08002B2CF9AE}" pid="8" name="include-after">
    <vt:lpwstr/>
  </property>
  <property fmtid="{D5CDD505-2E9C-101B-9397-08002B2CF9AE}" pid="9" name="include-before">
    <vt:lpwstr/>
  </property>
  <property fmtid="{D5CDD505-2E9C-101B-9397-08002B2CF9AE}" pid="10" name="labels">
    <vt:lpwstr/>
  </property>
  <property fmtid="{D5CDD505-2E9C-101B-9397-08002B2CF9AE}" pid="11" name="subtitle">
    <vt:lpwstr>…and what changes from healthy breast to tumor — work in progress</vt:lpwstr>
  </property>
  <property fmtid="{D5CDD505-2E9C-101B-9397-08002B2CF9AE}" pid="12" name="toc-title">
    <vt:lpwstr>Table of contents</vt:lpwstr>
  </property>
</Properties>
</file>